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" charset="1" panose="02020603050405020304"/>
      <p:regular r:id="rId22"/>
    </p:embeddedFont>
    <p:embeddedFont>
      <p:font typeface="TT Phobos Bold" charset="1" panose="02000803060000020004"/>
      <p:regular r:id="rId23"/>
    </p:embeddedFont>
    <p:embeddedFont>
      <p:font typeface="TT Phobos" charset="1" panose="02000503050000020004"/>
      <p:regular r:id="rId24"/>
    </p:embeddedFont>
    <p:embeddedFont>
      <p:font typeface="Times New Roman Italics" charset="1" panose="020205030504050903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doi.org/10.1007/s10696-023-09496-9" TargetMode="External" Type="http://schemas.openxmlformats.org/officeDocument/2006/relationships/hyperlink"/><Relationship Id="rId4" Target="https://doi.org/10.3390/app14156622" TargetMode="External" Type="http://schemas.openxmlformats.org/officeDocument/2006/relationships/hyperlink"/><Relationship Id="rId5" Target="https://arxiv.org/abs/2510.01770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633" y="25718"/>
            <a:ext cx="17675666" cy="1920640"/>
            <a:chOff x="0" y="0"/>
            <a:chExt cx="23567555" cy="2560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67517" cy="2560828"/>
            </a:xfrm>
            <a:custGeom>
              <a:avLst/>
              <a:gdLst/>
              <a:ahLst/>
              <a:cxnLst/>
              <a:rect r="r" b="b" t="t" l="l"/>
              <a:pathLst>
                <a:path h="2560828" w="23567517">
                  <a:moveTo>
                    <a:pt x="0" y="0"/>
                  </a:moveTo>
                  <a:lnTo>
                    <a:pt x="23567517" y="0"/>
                  </a:lnTo>
                  <a:lnTo>
                    <a:pt x="23567517" y="2560828"/>
                  </a:lnTo>
                  <a:lnTo>
                    <a:pt x="0" y="256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954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7854" y="2954836"/>
            <a:ext cx="16881005" cy="155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PROCESS SCHEDULER FOR SMART MANUFACTURING SYSTEMS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40769" y="5317846"/>
            <a:ext cx="10406463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CSA0405- Operating Systems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833" y="7063102"/>
            <a:ext cx="5824195" cy="87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Guided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Dr J PRISKILLA ANGEL RANI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89920" y="7063102"/>
            <a:ext cx="6978939" cy="254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Presented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Atchaya Chandran R(192521394)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Sakthivel K(192521484)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Hari Haran P(192521335)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Teja Vardhan Reddy E(192425297)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Abhirama Krishna P(192472037)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6331" y="164230"/>
            <a:ext cx="5936990" cy="1236869"/>
            <a:chOff x="0" y="0"/>
            <a:chExt cx="7915986" cy="1649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5986" cy="1649156"/>
            </a:xfrm>
            <a:custGeom>
              <a:avLst/>
              <a:gdLst/>
              <a:ahLst/>
              <a:cxnLst/>
              <a:rect r="r" b="b" t="t" l="l"/>
              <a:pathLst>
                <a:path h="1649156" w="7915986">
                  <a:moveTo>
                    <a:pt x="0" y="0"/>
                  </a:moveTo>
                  <a:lnTo>
                    <a:pt x="7915986" y="0"/>
                  </a:lnTo>
                  <a:lnTo>
                    <a:pt x="7915986" y="1649156"/>
                  </a:lnTo>
                  <a:lnTo>
                    <a:pt x="0" y="16491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7915986" cy="161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0606" y="1771069"/>
            <a:ext cx="17524466" cy="842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manufacturing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technologies such as Artificial Intelligence (AI), IoT, and automation to improve production efficiency and product quality.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Process Scheduler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automatically assigns and manages manufacturing tasks based on machine availability, resource usage, and production priorities.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scheduler can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respond to real-time changes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as machine breakdowns, urgent customer orders, or material shortages, ensuring smooth production.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improves productivity, reduces production delays and costs, and supports Industry 4.0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enabling efficient and intelligent manufacturing operations.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scheduling system 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balance workloads across machines and workers, reducing idle time and ensuring timely completion of manufacturing processes.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40873" y="204854"/>
            <a:ext cx="11172825" cy="994172"/>
            <a:chOff x="0" y="0"/>
            <a:chExt cx="14897100" cy="1325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97100" cy="1325562"/>
            </a:xfrm>
            <a:custGeom>
              <a:avLst/>
              <a:gdLst/>
              <a:ahLst/>
              <a:cxnLst/>
              <a:rect r="r" b="b" t="t" l="l"/>
              <a:pathLst>
                <a:path h="1325562" w="14897100">
                  <a:moveTo>
                    <a:pt x="0" y="0"/>
                  </a:moveTo>
                  <a:lnTo>
                    <a:pt x="14897100" y="0"/>
                  </a:lnTo>
                  <a:lnTo>
                    <a:pt x="14897100" y="1325562"/>
                  </a:lnTo>
                  <a:lnTo>
                    <a:pt x="0" y="13255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979" r="0" b="-1689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4897100" cy="12874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06504" y="1851536"/>
            <a:ext cx="16204168" cy="767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Inefficient Job Scheduling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Multiple manufacturing jobs are not always scheduled efficiently. </a:t>
            </a:r>
          </a:p>
          <a:p>
            <a:pPr algn="just" marL="651510" indent="-325755" lvl="1">
              <a:lnSpc>
                <a:spcPts val="3499"/>
              </a:lnSpc>
            </a:pPr>
          </a:p>
          <a:p>
            <a:pPr algn="just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Excessive Waiting Time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Jobs may spend too much time waiting in the execution queue. </a:t>
            </a:r>
          </a:p>
          <a:p>
            <a:pPr algn="just" marL="651510" indent="-325755" lvl="1">
              <a:lnSpc>
                <a:spcPts val="3499"/>
              </a:lnSpc>
            </a:pPr>
          </a:p>
          <a:p>
            <a:pPr algn="just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 Starvation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Some jobs may be delayed for a long time without receiving execution time. </a:t>
            </a:r>
          </a:p>
          <a:p>
            <a:pPr algn="just" marL="651510" indent="-325755" lvl="1">
              <a:lnSpc>
                <a:spcPts val="3499"/>
              </a:lnSpc>
            </a:pPr>
          </a:p>
          <a:p>
            <a:pPr algn="just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Real-Time Monitoring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Difficulty in tracking job progress and system status during execution. </a:t>
            </a:r>
          </a:p>
          <a:p>
            <a:pPr algn="just" marL="651510" indent="-325755" lvl="1">
              <a:lnSpc>
                <a:spcPts val="3499"/>
              </a:lnSpc>
            </a:pPr>
          </a:p>
          <a:p>
            <a:pPr algn="just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Performance Analysis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Lack of proper analysis of scheduling efficiency and resource utilization.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92130" y="164230"/>
            <a:ext cx="6772275" cy="1090689"/>
            <a:chOff x="0" y="0"/>
            <a:chExt cx="9029700" cy="1454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29702" cy="1454252"/>
            </a:xfrm>
            <a:custGeom>
              <a:avLst/>
              <a:gdLst/>
              <a:ahLst/>
              <a:cxnLst/>
              <a:rect r="r" b="b" t="t" l="l"/>
              <a:pathLst>
                <a:path h="1454252" w="9029702">
                  <a:moveTo>
                    <a:pt x="0" y="0"/>
                  </a:moveTo>
                  <a:lnTo>
                    <a:pt x="9029702" y="0"/>
                  </a:lnTo>
                  <a:lnTo>
                    <a:pt x="9029702" y="1454252"/>
                  </a:lnTo>
                  <a:lnTo>
                    <a:pt x="0" y="14542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985" r="0" b="-7098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9029700" cy="14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36399" y="1767411"/>
            <a:ext cx="16015202" cy="67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 an intelligent scheduling system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efficiently manage manufacturing processes.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 FCFS scheduling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organize and execute jobs based on their arrival time.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Simulate jobs in real time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monitor process execution and job status.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Detect process starvation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monitoring excessive waiting times.</a:t>
            </a:r>
          </a:p>
          <a:p>
            <a:pPr algn="just" marL="651510" indent="-325755" lvl="1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Generate performance reports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analyze waiting time, turnaround time, and machine utilization.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63490" y="433873"/>
            <a:ext cx="13498830" cy="1045140"/>
            <a:chOff x="0" y="0"/>
            <a:chExt cx="17998440" cy="1393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98439" cy="1393518"/>
            </a:xfrm>
            <a:custGeom>
              <a:avLst/>
              <a:gdLst/>
              <a:ahLst/>
              <a:cxnLst/>
              <a:rect r="r" b="b" t="t" l="l"/>
              <a:pathLst>
                <a:path h="1393518" w="17998439">
                  <a:moveTo>
                    <a:pt x="0" y="0"/>
                  </a:moveTo>
                  <a:lnTo>
                    <a:pt x="17998439" y="0"/>
                  </a:lnTo>
                  <a:lnTo>
                    <a:pt x="17998439" y="1393518"/>
                  </a:lnTo>
                  <a:lnTo>
                    <a:pt x="0" y="13935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665" r="0" b="-2016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7998440" cy="13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Technologies Used</a:t>
              </a:r>
            </a:p>
            <a:p>
              <a:pPr algn="l">
                <a:lnSpc>
                  <a:spcPts val="518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6766" y="2484949"/>
            <a:ext cx="17314469" cy="813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Core programming language for scheduling logic and application development.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Streamlit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to build the interactive web-based GUI dashboard.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Plotly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for interactive charts, execution timelines, machine utilization, CPU load, and performance graphs.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FCFS Algorithm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for First-Come, First-Serve process scheduling.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Simulation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to simulate live job execution and machine status.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Visualization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to display waiting time, turnaround time, CPU utilization, and machine performance. 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Date/Time &amp; Simulation Logic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Used for execution timing, process monitoring, and starvation detection.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4775" y="359750"/>
            <a:ext cx="11915775" cy="956643"/>
            <a:chOff x="0" y="0"/>
            <a:chExt cx="15887700" cy="12755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87698" cy="1275530"/>
            </a:xfrm>
            <a:custGeom>
              <a:avLst/>
              <a:gdLst/>
              <a:ahLst/>
              <a:cxnLst/>
              <a:rect r="r" b="b" t="t" l="l"/>
              <a:pathLst>
                <a:path h="1275530" w="15887698">
                  <a:moveTo>
                    <a:pt x="0" y="0"/>
                  </a:moveTo>
                  <a:lnTo>
                    <a:pt x="15887698" y="0"/>
                  </a:lnTo>
                  <a:lnTo>
                    <a:pt x="15887698" y="1275530"/>
                  </a:lnTo>
                  <a:lnTo>
                    <a:pt x="0" y="12755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2701" r="0" b="-192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5887700" cy="1246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 1 – GUI Dashboard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3828" y="1803911"/>
            <a:ext cx="7707182" cy="843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Centralized Job Management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Add, view, update, and manage manufacturing jobs and their scheduling information.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Process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Display running, waiting, completed, and idle processes with live status updates.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Scheduling Control &amp; Visualization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Provide controls to start, pause, reset scheduling and visualize the job queue and execution process.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&amp; Alert Dashboard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Show waiting time, turnaround time, machine utilization, completed jobs, and starvation alerts.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Manufacturing Overview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Provide a clear real-time overview of production activities, machine status, job progress, and overall system efficiency.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72682" y="1748666"/>
            <a:ext cx="9929412" cy="8374104"/>
            <a:chOff x="0" y="0"/>
            <a:chExt cx="13239217" cy="11165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39242" cy="11165459"/>
            </a:xfrm>
            <a:custGeom>
              <a:avLst/>
              <a:gdLst/>
              <a:ahLst/>
              <a:cxnLst/>
              <a:rect r="r" b="b" t="t" l="l"/>
              <a:pathLst>
                <a:path h="11165459" w="13239242">
                  <a:moveTo>
                    <a:pt x="0" y="0"/>
                  </a:moveTo>
                  <a:lnTo>
                    <a:pt x="13239242" y="0"/>
                  </a:lnTo>
                  <a:lnTo>
                    <a:pt x="13239242" y="11165459"/>
                  </a:lnTo>
                  <a:lnTo>
                    <a:pt x="0" y="11165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982" t="0" r="-2498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86038" y="109157"/>
            <a:ext cx="12090082" cy="912400"/>
            <a:chOff x="0" y="0"/>
            <a:chExt cx="16120110" cy="1216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20111" cy="1216538"/>
            </a:xfrm>
            <a:custGeom>
              <a:avLst/>
              <a:gdLst/>
              <a:ahLst/>
              <a:cxnLst/>
              <a:rect r="r" b="b" t="t" l="l"/>
              <a:pathLst>
                <a:path h="1216538" w="16120111">
                  <a:moveTo>
                    <a:pt x="0" y="0"/>
                  </a:moveTo>
                  <a:lnTo>
                    <a:pt x="16120111" y="0"/>
                  </a:lnTo>
                  <a:lnTo>
                    <a:pt x="16120111" y="1216538"/>
                  </a:lnTo>
                  <a:lnTo>
                    <a:pt x="0" y="12165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92" r="0" b="-2081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6120110" cy="1187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 2 – FCFS Scheduling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3338" y="1812608"/>
            <a:ext cx="5983872" cy="831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First-Come, First-Served Execution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Processes are executed in the order they arrive.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Job Queue Management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Maintains an organized queue of manufacturing jobs waiting for execution.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Waiting Time Calculation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Calculates how long each process waits before execution.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Turnaround Time Calculation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Determines the total time taken from process arrival to completion.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Scheduling Performance Analysis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Calculates average waiting time and average turnaround time to evaluate scheduler efficiency.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15716"/>
            <a:ext cx="1418901" cy="1380620"/>
            <a:chOff x="0" y="0"/>
            <a:chExt cx="1891868" cy="184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1840865"/>
            </a:xfrm>
            <a:custGeom>
              <a:avLst/>
              <a:gdLst/>
              <a:ahLst/>
              <a:cxnLst/>
              <a:rect r="r" b="b" t="t" l="l"/>
              <a:pathLst>
                <a:path h="1840865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840865"/>
                  </a:lnTo>
                  <a:lnTo>
                    <a:pt x="0" y="1840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95" r="2" b="-37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15138" y="1757362"/>
            <a:ext cx="11070965" cy="8529638"/>
            <a:chOff x="0" y="0"/>
            <a:chExt cx="14761286" cy="11372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61338" cy="11372850"/>
            </a:xfrm>
            <a:custGeom>
              <a:avLst/>
              <a:gdLst/>
              <a:ahLst/>
              <a:cxnLst/>
              <a:rect r="r" b="b" t="t" l="l"/>
              <a:pathLst>
                <a:path h="11372850" w="14761338">
                  <a:moveTo>
                    <a:pt x="0" y="0"/>
                  </a:moveTo>
                  <a:lnTo>
                    <a:pt x="14761338" y="0"/>
                  </a:lnTo>
                  <a:lnTo>
                    <a:pt x="14761338" y="11372850"/>
                  </a:lnTo>
                  <a:lnTo>
                    <a:pt x="0" y="1137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800" t="0" r="-1280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71662" y="156858"/>
            <a:ext cx="14842036" cy="986142"/>
            <a:chOff x="0" y="0"/>
            <a:chExt cx="19789381" cy="131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89383" cy="1314860"/>
            </a:xfrm>
            <a:custGeom>
              <a:avLst/>
              <a:gdLst/>
              <a:ahLst/>
              <a:cxnLst/>
              <a:rect r="r" b="b" t="t" l="l"/>
              <a:pathLst>
                <a:path h="1314860" w="19789383">
                  <a:moveTo>
                    <a:pt x="0" y="0"/>
                  </a:moveTo>
                  <a:lnTo>
                    <a:pt x="19789383" y="0"/>
                  </a:lnTo>
                  <a:lnTo>
                    <a:pt x="19789383" y="1314860"/>
                  </a:lnTo>
                  <a:lnTo>
                    <a:pt x="0" y="1314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3260" r="0" b="-2432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9789381" cy="1286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 3 – Real-Time Job Simulation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2326" y="1805540"/>
            <a:ext cx="6342821" cy="813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Job Execution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Simulates manufacturing jobs being executed in real time.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 Status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Displays jobs as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Waiting, Running, and Completed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Execution Progress Tracking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Shows the real-time progress and remaining execution time of each job.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Job Queue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Updates the waiting queue automatically as jobs start and finish.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Performance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Tracks execution time, completed jobs, and machine utilization during simulation.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52881" y="1748666"/>
            <a:ext cx="10779719" cy="8374104"/>
            <a:chOff x="0" y="0"/>
            <a:chExt cx="14372958" cy="11165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372971" cy="11165459"/>
            </a:xfrm>
            <a:custGeom>
              <a:avLst/>
              <a:gdLst/>
              <a:ahLst/>
              <a:cxnLst/>
              <a:rect r="r" b="b" t="t" l="l"/>
              <a:pathLst>
                <a:path h="11165459" w="14372971">
                  <a:moveTo>
                    <a:pt x="0" y="0"/>
                  </a:moveTo>
                  <a:lnTo>
                    <a:pt x="14372971" y="0"/>
                  </a:lnTo>
                  <a:lnTo>
                    <a:pt x="14372971" y="11165459"/>
                  </a:lnTo>
                  <a:lnTo>
                    <a:pt x="0" y="11165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63" t="0" r="-10763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0730" y="256708"/>
            <a:ext cx="13322770" cy="941899"/>
            <a:chOff x="0" y="0"/>
            <a:chExt cx="17763693" cy="1255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63696" cy="1255866"/>
            </a:xfrm>
            <a:custGeom>
              <a:avLst/>
              <a:gdLst/>
              <a:ahLst/>
              <a:cxnLst/>
              <a:rect r="r" b="b" t="t" l="l"/>
              <a:pathLst>
                <a:path h="1255866" w="17763696">
                  <a:moveTo>
                    <a:pt x="0" y="0"/>
                  </a:moveTo>
                  <a:lnTo>
                    <a:pt x="17763696" y="0"/>
                  </a:lnTo>
                  <a:lnTo>
                    <a:pt x="17763696" y="1255866"/>
                  </a:lnTo>
                  <a:lnTo>
                    <a:pt x="0" y="12558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607" r="0" b="-22560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7763693" cy="1227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Module 4 – Starvation Detection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9659" y="2091033"/>
            <a:ext cx="7612751" cy="761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Waiting Time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Continuously monitors how long each manufacturing job remains in the waiting queue.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Starvation Threshold Detection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Identifies jobs whose waiting time exceeds a predefined threshold.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Early Warning Alerts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alerts when a job is approaching or experiencing starvation.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Priority Risk Identification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Highlights high-risk jobs so they can be given attention before excessive delays occur.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Starvation Analysis &amp; Reporting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Records detected starvation events and provides statistics for performance evaluation.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418901" cy="1455325"/>
            <a:chOff x="0" y="0"/>
            <a:chExt cx="1891868" cy="19404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1940433"/>
            </a:xfrm>
            <a:custGeom>
              <a:avLst/>
              <a:gdLst/>
              <a:ahLst/>
              <a:cxnLst/>
              <a:rect r="r" b="b" t="t" l="l"/>
              <a:pathLst>
                <a:path h="1940433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40433"/>
                  </a:lnTo>
                  <a:lnTo>
                    <a:pt x="0" y="1940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33" r="2" b="-10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43850" y="2035788"/>
            <a:ext cx="10188740" cy="7718165"/>
            <a:chOff x="0" y="0"/>
            <a:chExt cx="13584987" cy="102908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84937" cy="10290937"/>
            </a:xfrm>
            <a:custGeom>
              <a:avLst/>
              <a:gdLst/>
              <a:ahLst/>
              <a:cxnLst/>
              <a:rect r="r" b="b" t="t" l="l"/>
              <a:pathLst>
                <a:path h="10290937" w="13584937">
                  <a:moveTo>
                    <a:pt x="0" y="0"/>
                  </a:moveTo>
                  <a:lnTo>
                    <a:pt x="13584937" y="0"/>
                  </a:lnTo>
                  <a:lnTo>
                    <a:pt x="13584937" y="10290937"/>
                  </a:lnTo>
                  <a:lnTo>
                    <a:pt x="0" y="1029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38" t="0" r="-838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7756" y="226581"/>
            <a:ext cx="15874394" cy="971398"/>
            <a:chOff x="0" y="0"/>
            <a:chExt cx="21165858" cy="12951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65865" cy="1295196"/>
            </a:xfrm>
            <a:custGeom>
              <a:avLst/>
              <a:gdLst/>
              <a:ahLst/>
              <a:cxnLst/>
              <a:rect r="r" b="b" t="t" l="l"/>
              <a:pathLst>
                <a:path h="1295196" w="21165865">
                  <a:moveTo>
                    <a:pt x="0" y="0"/>
                  </a:moveTo>
                  <a:lnTo>
                    <a:pt x="21165865" y="0"/>
                  </a:lnTo>
                  <a:lnTo>
                    <a:pt x="21165865" y="1295196"/>
                  </a:lnTo>
                  <a:lnTo>
                    <a:pt x="0" y="1295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420" r="0" b="-2684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165858" cy="1266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Module5 – Performance Analytics &amp; Reports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8809" y="1946215"/>
            <a:ext cx="6993588" cy="805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Scheduling Performance Calculation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Calculates waiting time, turnaround time, completion time, and response time.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Job Performance Analysis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Evaluates the execution performance of individual manufacturing jobs.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Utilization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Measures active and idle machine time to determine overall utilization.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Graphical Performance Visualization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charts for waiting time, turnaround time, job completion, and utilization. </a:t>
            </a:r>
          </a:p>
          <a:p>
            <a:pPr algn="l" marL="542925" indent="-271462" lvl="1">
              <a:lnSpc>
                <a:spcPts val="32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Report Generation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Produces a final performance report containing scheduling results, statistics, and detected starvation events.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31881" y="1890970"/>
            <a:ext cx="10400709" cy="8231800"/>
            <a:chOff x="0" y="0"/>
            <a:chExt cx="13867613" cy="109757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7637" cy="10975721"/>
            </a:xfrm>
            <a:custGeom>
              <a:avLst/>
              <a:gdLst/>
              <a:ahLst/>
              <a:cxnLst/>
              <a:rect r="r" b="b" t="t" l="l"/>
              <a:pathLst>
                <a:path h="10975721" w="13867637">
                  <a:moveTo>
                    <a:pt x="0" y="0"/>
                  </a:moveTo>
                  <a:lnTo>
                    <a:pt x="13867637" y="0"/>
                  </a:lnTo>
                  <a:lnTo>
                    <a:pt x="13867637" y="10975721"/>
                  </a:lnTo>
                  <a:lnTo>
                    <a:pt x="0" y="10975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741" t="0" r="-2274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65436" y="381324"/>
            <a:ext cx="13498830" cy="1045140"/>
            <a:chOff x="0" y="0"/>
            <a:chExt cx="17998440" cy="1393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98439" cy="1393518"/>
            </a:xfrm>
            <a:custGeom>
              <a:avLst/>
              <a:gdLst/>
              <a:ahLst/>
              <a:cxnLst/>
              <a:rect r="r" b="b" t="t" l="l"/>
              <a:pathLst>
                <a:path h="1393518" w="17998439">
                  <a:moveTo>
                    <a:pt x="0" y="0"/>
                  </a:moveTo>
                  <a:lnTo>
                    <a:pt x="17998439" y="0"/>
                  </a:lnTo>
                  <a:lnTo>
                    <a:pt x="17998439" y="1393518"/>
                  </a:lnTo>
                  <a:lnTo>
                    <a:pt x="0" y="13935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665" r="0" b="-2016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7998440" cy="13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83048" y="1748666"/>
            <a:ext cx="17521895" cy="8157010"/>
            <a:chOff x="0" y="0"/>
            <a:chExt cx="23362526" cy="108760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62538" cy="10876026"/>
            </a:xfrm>
            <a:custGeom>
              <a:avLst/>
              <a:gdLst/>
              <a:ahLst/>
              <a:cxnLst/>
              <a:rect r="r" b="b" t="t" l="l"/>
              <a:pathLst>
                <a:path h="10876026" w="23362538">
                  <a:moveTo>
                    <a:pt x="0" y="0"/>
                  </a:moveTo>
                  <a:lnTo>
                    <a:pt x="23362538" y="0"/>
                  </a:lnTo>
                  <a:lnTo>
                    <a:pt x="23362538" y="10876026"/>
                  </a:lnTo>
                  <a:lnTo>
                    <a:pt x="0" y="1087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9" r="0" b="-9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1682" y="304009"/>
            <a:ext cx="11326397" cy="1046445"/>
            <a:chOff x="0" y="0"/>
            <a:chExt cx="15101862" cy="1395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01858" cy="1395260"/>
            </a:xfrm>
            <a:custGeom>
              <a:avLst/>
              <a:gdLst/>
              <a:ahLst/>
              <a:cxnLst/>
              <a:rect r="r" b="b" t="t" l="l"/>
              <a:pathLst>
                <a:path h="1395260" w="15101858">
                  <a:moveTo>
                    <a:pt x="0" y="0"/>
                  </a:moveTo>
                  <a:lnTo>
                    <a:pt x="15101858" y="0"/>
                  </a:lnTo>
                  <a:lnTo>
                    <a:pt x="15101858" y="1395260"/>
                  </a:lnTo>
                  <a:lnTo>
                    <a:pt x="0" y="13952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900" r="0" b="-160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5101862" cy="1357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43652" y="1708328"/>
            <a:ext cx="17397508" cy="836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Job Scheduling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Manufacturing jobs are successfully organized and executed using the FCFS scheduling algorithm.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Reduced Scheduling Delays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Waiting and turnaround times are calculated to identify and reduce process delays.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Monitoring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Job execution and process status are monitored through the interactive dashboard.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Starvation Detection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Jobs with excessive waiting times are automatically identified and alerted.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Evaluation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Scheduling performance, job completion, and machine utilization are analyzed through reports and graphical results.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1682" y="304009"/>
            <a:ext cx="11326397" cy="1046445"/>
            <a:chOff x="0" y="0"/>
            <a:chExt cx="15101862" cy="1395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01858" cy="1395260"/>
            </a:xfrm>
            <a:custGeom>
              <a:avLst/>
              <a:gdLst/>
              <a:ahLst/>
              <a:cxnLst/>
              <a:rect r="r" b="b" t="t" l="l"/>
              <a:pathLst>
                <a:path h="1395260" w="15101858">
                  <a:moveTo>
                    <a:pt x="0" y="0"/>
                  </a:moveTo>
                  <a:lnTo>
                    <a:pt x="15101858" y="0"/>
                  </a:lnTo>
                  <a:lnTo>
                    <a:pt x="15101858" y="1395260"/>
                  </a:lnTo>
                  <a:lnTo>
                    <a:pt x="0" y="13952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900" r="0" b="-160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5101862" cy="1357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1361" y="1953216"/>
            <a:ext cx="15705277" cy="784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an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process scheduling solution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smart manufacturing environments.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FCFS scheduling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organize manufacturing jobs based on their arrival time.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simulation and starvation detection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process monitoring and reduce unnecessary delays.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analysis and report generation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 evaluate scheduling efficiency and machine utilization. </a:t>
            </a:r>
          </a:p>
          <a:p>
            <a:pPr algn="just" marL="651510" indent="-325755" lvl="1">
              <a:lnSpc>
                <a:spcPts val="3888"/>
              </a:lnSpc>
            </a:pPr>
          </a:p>
          <a:p>
            <a:pPr algn="just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system improves </a:t>
            </a: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productivity, monitoring, and decision-making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smart manufacturing systems.</a:t>
            </a:r>
          </a:p>
          <a:p>
            <a:pPr algn="just" marL="651510" indent="-325755" lvl="1">
              <a:lnSpc>
                <a:spcPts val="3888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4593" y="164230"/>
            <a:ext cx="1418901" cy="1584436"/>
            <a:chOff x="0" y="0"/>
            <a:chExt cx="1891868" cy="2112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919" cy="2112518"/>
            </a:xfrm>
            <a:custGeom>
              <a:avLst/>
              <a:gdLst/>
              <a:ahLst/>
              <a:cxnLst/>
              <a:rect r="r" b="b" t="t" l="l"/>
              <a:pathLst>
                <a:path h="2112518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2112518"/>
                  </a:lnTo>
                  <a:lnTo>
                    <a:pt x="0" y="211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3698" y="164230"/>
            <a:ext cx="1418901" cy="1479318"/>
            <a:chOff x="0" y="0"/>
            <a:chExt cx="1891868" cy="1972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91919" cy="1972437"/>
            </a:xfrm>
            <a:custGeom>
              <a:avLst/>
              <a:gdLst/>
              <a:ahLst/>
              <a:cxnLst/>
              <a:rect r="r" b="b" t="t" l="l"/>
              <a:pathLst>
                <a:path h="1972437" w="1891919">
                  <a:moveTo>
                    <a:pt x="0" y="0"/>
                  </a:moveTo>
                  <a:lnTo>
                    <a:pt x="1891919" y="0"/>
                  </a:lnTo>
                  <a:lnTo>
                    <a:pt x="1891919" y="1972437"/>
                  </a:lnTo>
                  <a:lnTo>
                    <a:pt x="0" y="197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19" t="0" r="-10116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3199" y="235972"/>
            <a:ext cx="5261486" cy="750170"/>
            <a:chOff x="0" y="0"/>
            <a:chExt cx="7015315" cy="10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5316" cy="1000228"/>
            </a:xfrm>
            <a:custGeom>
              <a:avLst/>
              <a:gdLst/>
              <a:ahLst/>
              <a:cxnLst/>
              <a:rect r="r" b="b" t="t" l="l"/>
              <a:pathLst>
                <a:path h="1000228" w="7015316">
                  <a:moveTo>
                    <a:pt x="0" y="0"/>
                  </a:moveTo>
                  <a:lnTo>
                    <a:pt x="7015316" y="0"/>
                  </a:lnTo>
                  <a:lnTo>
                    <a:pt x="7015316" y="1000228"/>
                  </a:lnTo>
                  <a:lnTo>
                    <a:pt x="0" y="100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662" r="0" b="-866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7015315" cy="962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1315" y="1372610"/>
            <a:ext cx="17585236" cy="6416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Bozzi, A., Graffione, S., Sacile, R., &amp; Zero, E. (2023).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Dynamic MPC-based scheduling in a smart manufacturing system problem.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IEEE Access. https://doi.org/10.1109/ACCESS.2023.3341504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Paraschos, P. D., Koulinas, G. K., &amp; Koulouriotis, D. E. (2023).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Reinforcement learning-based scheduling for flexible and sustainable manufacturing systems.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Flexible Services and Manufacturing Journal. </a:t>
            </a:r>
            <a:r>
              <a:rPr lang="en-US" sz="33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doi.org/10.1007/s10696-023-09496-9"/>
              </a:rPr>
              <a:t>https://doi.org/10.1007/s10696-023-09496-9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Gu, W., Li, Y., Liu, S., Yuan, M., &amp; Pei, F. (2023).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Data-driven real-time scheduling method of smart workshop.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Journal of Mechanical Engineering. https://doi.org/10.3901/JME.2023.12.047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Chorghe, S., Kumar, R., Kulkarni, M. S., Pandhare, V., &amp; Lad, B. K. (2024).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Smart scheduling for next generation manufacturing systems: A systematic literature review.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Journal of Intelligent Manufacturing. https://doi.org/10.1007/s10845-024-02484-2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Yao, J., Su, R., &amp; Tan, C. (2025).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Integrated timetable optimization and AGV dispatching in smart manufacturing.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IEEE ITSC Proceedings. https://doi.org/10.1109/ITSC58415.2024.10920047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Tang, L. (2024).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Digital-twin-enabled intelligent scheduling for manufacturing systems.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Applied Sciences. </a:t>
            </a:r>
            <a:r>
              <a:rPr lang="en-US" sz="33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doi.org/10.3390/app14156622"/>
              </a:rPr>
              <a:t>https://doi.org/10.3390/app14156622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97218" indent="-298609" lvl="1">
              <a:lnSpc>
                <a:spcPts val="3564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Leet, C., Sciortino, A., &amp; Koenig, S. (2025).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An anytime scalable algorithm for smart factory scheduling.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arXiv preprint. </a:t>
            </a:r>
            <a:r>
              <a:rPr lang="en-US" sz="33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arxiv.org/abs/2510.01770"/>
              </a:rPr>
              <a:t>https://arxiv.org/abs/2510.01770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597218" indent="-298609" lvl="1">
              <a:lnSpc>
                <a:spcPts val="3564"/>
              </a:lnSpc>
            </a:pPr>
          </a:p>
          <a:p>
            <a:pPr algn="l" marL="597218" indent="-298609" lvl="1">
              <a:lnSpc>
                <a:spcPts val="356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3939" y="0"/>
            <a:ext cx="16206426" cy="9224353"/>
            <a:chOff x="0" y="0"/>
            <a:chExt cx="21608567" cy="12299137"/>
          </a:xfrm>
        </p:grpSpPr>
        <p:sp>
          <p:nvSpPr>
            <p:cNvPr name="Freeform 3" id="3" descr="Thank you Images - Free Download on Magnific (formerly Freepik)"/>
            <p:cNvSpPr/>
            <p:nvPr/>
          </p:nvSpPr>
          <p:spPr>
            <a:xfrm flipH="false" flipV="false" rot="0">
              <a:off x="0" y="0"/>
              <a:ext cx="21608542" cy="12299188"/>
            </a:xfrm>
            <a:custGeom>
              <a:avLst/>
              <a:gdLst/>
              <a:ahLst/>
              <a:cxnLst/>
              <a:rect r="r" b="b" t="t" l="l"/>
              <a:pathLst>
                <a:path h="12299188" w="21608542">
                  <a:moveTo>
                    <a:pt x="0" y="0"/>
                  </a:moveTo>
                  <a:lnTo>
                    <a:pt x="21608542" y="0"/>
                  </a:lnTo>
                  <a:lnTo>
                    <a:pt x="21608542" y="12299188"/>
                  </a:lnTo>
                  <a:lnTo>
                    <a:pt x="0" y="12299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524" r="0" b="-852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DAHT7xNx-EE</dc:identifier>
  <dcterms:modified xsi:type="dcterms:W3CDTF">2011-08-01T06:04:30Z</dcterms:modified>
  <cp:revision>1</cp:revision>
  <dc:title>OS ppt-4.pptx</dc:title>
</cp:coreProperties>
</file>